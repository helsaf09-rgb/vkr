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066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F5F7F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58368"/>
            <a:ext cx="1088136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58368"/>
            <a:ext cx="201168" cy="5541264"/>
          </a:xfrm>
          <a:prstGeom prst="rect">
            <a:avLst/>
          </a:prstGeom>
          <a:solidFill>
            <a:srgbClr val="1E6F5C"/>
          </a:solidFill>
          <a:ln w="12700">
            <a:solidFill>
              <a:srgbClr val="1E6F5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9509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Предзащита ВКР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" y="1261872"/>
            <a:ext cx="6720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Персонализация клиентских предложений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 основе транзакционной активности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33856" y="2542032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Сафонова Елена Михайловна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научный руководитель: Ильвовский Дмитрий Алексеевич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магистратура Data Science, НИУ ВШЭ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апрель 2026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92440" y="1371600"/>
            <a:ext cx="2880360" cy="1078992"/>
          </a:xfrm>
          <a:prstGeom prst="roundRect">
            <a:avLst>
              <a:gd name="adj" fmla="val 678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7032" y="1499616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Сделано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57032" y="1792224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 + API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57032" y="217627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репозиторий, EDA, метрики, сервис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2697480"/>
            <a:ext cx="2880360" cy="1078992"/>
          </a:xfrm>
          <a:prstGeom prst="roundRect">
            <a:avLst>
              <a:gd name="adj" fmla="val 6780"/>
            </a:avLst>
          </a:prstGeom>
          <a:solidFill>
            <a:srgbClr val="F6E7CE"/>
          </a:solidFill>
          <a:ln w="12700">
            <a:solidFill>
              <a:srgbClr val="F6E7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2825496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baseline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57032" y="3118104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NCF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57032" y="350215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нелинейная модель уже включена в стек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92440" y="4023360"/>
            <a:ext cx="2880360" cy="1078992"/>
          </a:xfrm>
          <a:prstGeom prst="roundRect">
            <a:avLst>
              <a:gd name="adj" fmla="val 6780"/>
            </a:avLst>
          </a:prstGeom>
          <a:solidFill>
            <a:srgbClr val="E7F0ED"/>
          </a:solidFill>
          <a:ln w="12700">
            <a:solidFill>
              <a:srgbClr val="E7F0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7032" y="4151376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validation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57032" y="4443984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Online Retail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57032" y="482803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валидация на реальных transaction logs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99648" y="5669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3F34"/>
          </a:solidFill>
          <a:ln w="12700">
            <a:solidFill>
              <a:srgbClr val="103F3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Актуальность, цель и постановка задачи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37392" y="6446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5B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5486400" cy="4919472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3502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нужно решить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75307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Банку нужна короткая релевантная top-K выдача, а не массовая рассылка одинаковых офферов.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50288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На входе есть история транзакций пользователя, на выходе нужна ранжированная выдача банковских предложений.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25269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Источник сигнала: транзакционная активность, а не статические анкеты.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00249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Оценка качества: Precision@K, Recall@K, MAP@K, NDCG@K.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207008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6E7CE"/>
          </a:solidFill>
          <a:ln w="12700">
            <a:solidFill>
              <a:srgbClr val="F6E7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33502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Цель исследования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65392" y="1591056"/>
            <a:ext cx="4791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Построить и оценить воспроизводимый pipeline персонализации банковских офферов по транзакционной активности пользователя.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724912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85292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Исследовательский компромисс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65392" y="3108960"/>
            <a:ext cx="4791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Открытого банковского transaction </a:t>
            </a:r>
            <a:r>
              <a:rPr lang="en-US" sz="1400" dirty="0" smtClean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</a:t>
            </a:r>
            <a:r>
              <a:rPr lang="ru-RU" sz="1400" dirty="0" smtClean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конкретно под наши цели</a:t>
            </a:r>
            <a:r>
              <a:rPr lang="en-US" sz="1400" dirty="0" smtClean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нет, поэтому основной benchmark строится на synthetic dataset, а real-data validation выступает как внешний transferability check.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4242816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6DCD6"/>
          </a:solidFill>
          <a:ln w="12700">
            <a:solidFill>
              <a:srgbClr val="F6DC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437083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Практический результат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65392" y="4626864"/>
            <a:ext cx="4791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Проект доведен до API-прототипа, презентации, отчётов и формализованных артефактов, которые можно воспроизвести одной командой.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3F34"/>
          </a:solidFill>
          <a:ln w="12700">
            <a:solidFill>
              <a:srgbClr val="103F3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Данные и pipeline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37392" y="6446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5B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" y="2057400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DDEFE9"/>
          </a:solidFill>
          <a:ln w="12700">
            <a:solidFill>
              <a:srgbClr val="DDEFE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33172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Synthetic banking-like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50592" y="2596896"/>
            <a:ext cx="164592" cy="256032"/>
          </a:xfrm>
          <a:prstGeom prst="chevron">
            <a:avLst/>
          </a:prstGeom>
          <a:solidFill>
            <a:srgbClr val="1E6F5C"/>
          </a:solidFill>
          <a:ln w="12700">
            <a:solidFill>
              <a:srgbClr val="1E6F5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2057400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EAF2EF"/>
          </a:solidFill>
          <a:ln w="12700">
            <a:solidFill>
              <a:srgbClr val="EAF2E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35224" y="233172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EDA + отчеты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 данным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26280" y="2596896"/>
            <a:ext cx="164592" cy="256032"/>
          </a:xfrm>
          <a:prstGeom prst="chevron">
            <a:avLst/>
          </a:prstGeom>
          <a:solidFill>
            <a:srgbClr val="1E6F5C"/>
          </a:solidFill>
          <a:ln w="12700">
            <a:solidFill>
              <a:srgbClr val="1E6F5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2057400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F6E7CE"/>
          </a:solidFill>
          <a:ln w="12700">
            <a:solidFill>
              <a:srgbClr val="F6E7C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233172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Обучение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моделей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01968" y="2596896"/>
            <a:ext cx="164592" cy="256032"/>
          </a:xfrm>
          <a:prstGeom prst="chevron">
            <a:avLst/>
          </a:prstGeom>
          <a:solidFill>
            <a:srgbClr val="1E6F5C"/>
          </a:solidFill>
          <a:ln w="12700">
            <a:solidFill>
              <a:srgbClr val="1E6F5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0296" y="2057400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EAF2EF"/>
          </a:solidFill>
          <a:ln w="12700">
            <a:solidFill>
              <a:srgbClr val="EAF2E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33172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Offline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оценка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77656" y="2596896"/>
            <a:ext cx="164592" cy="256032"/>
          </a:xfrm>
          <a:prstGeom prst="chevron">
            <a:avLst/>
          </a:prstGeom>
          <a:solidFill>
            <a:srgbClr val="1E6F5C"/>
          </a:solidFill>
          <a:ln w="12700">
            <a:solidFill>
              <a:srgbClr val="1E6F5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15984" y="2057400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DDEFE9"/>
          </a:solidFill>
          <a:ln w="12700">
            <a:solidFill>
              <a:srgbClr val="DDEFE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233172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+ Streamlit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87552" y="4297680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42569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" y="47183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800 users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52144" y="510235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112 626 transactions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4297680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442569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47872" y="47183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6 442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3547872" y="510235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positive offer responses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79008" y="4297680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442569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47183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reports/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943600" y="510235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+ JSON + PNG + markdown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74736" y="4297680"/>
            <a:ext cx="235915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442569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39328" y="4639733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README + docs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339328" y="510235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готовые материалы под обсуждение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3F34"/>
          </a:solidFill>
          <a:ln w="12700">
            <a:solidFill>
              <a:srgbClr val="103F3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720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 smtClean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ML-</a:t>
            </a:r>
            <a:r>
              <a:rPr lang="en-US" sz="2300" dirty="0" err="1" smtClean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модели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37392" y="6446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5B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32588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53896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Уже в текущем benchmark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Neural CF (NCF): нелинейный ML-baseline с user/item embeddings.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LightGCN: графовая user-item модель из актуальной литературы.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SASRec: sequence-aware self-attention модель для next-item prediction.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69417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Implicit MF: классическая матричная факторизация по implicit interactions.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Hybrid Semantic: profile similarity + TF-IDF по описаниям офферов.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Profile baseline: интерпретируемый категорийный поведенческий профиль.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55955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Time-decay: time-aware модель с учетом свежести интересов.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36208" y="1325880"/>
            <a:ext cx="5285232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45389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SOTA-ориентиры из обзора литературы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1828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BERT4Rec: bidirectional encoder для masked sequence modeling.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6151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Следующий шаг после предзащиты: дотюнить SASRec/LightGCN и финальное сравнение.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73952" y="3913633"/>
            <a:ext cx="4572000" cy="1828799"/>
          </a:xfrm>
          <a:prstGeom prst="roundRect">
            <a:avLst>
              <a:gd name="adj" fmla="val 7407"/>
            </a:avLst>
          </a:prstGeom>
          <a:solidFill>
            <a:srgbClr val="F6E7CE"/>
          </a:solidFill>
          <a:ln w="12700">
            <a:solidFill>
              <a:srgbClr val="F6E7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488289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38544" y="4206241"/>
            <a:ext cx="4242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NCF уже реализован как серьезный нелинейный baseline, LightGCN — как графовая SOTA-ветка, а SASRec — как sequence-aware ветка на реальном transaction log. Следующий шаг уже не запускать что-то с нуля, а дотюнить тяжелые модели и при необходимости добавить BERT4Rec.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3F34"/>
          </a:solidFill>
          <a:ln w="12700">
            <a:solidFill>
              <a:srgbClr val="103F3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Результаты на synthetic dataset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37392" y="6446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5B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100" dirty="0"/>
          </a:p>
        </p:txBody>
      </p:sp>
      <p:pic>
        <p:nvPicPr>
          <p:cNvPr id="6" name="Image 0" descr="C:\Users\vadim\Desktop\elena\reports\figures\analysis_overall_ndcg_by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17320"/>
            <a:ext cx="64922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554480"/>
            <a:ext cx="1737360" cy="1078992"/>
          </a:xfrm>
          <a:prstGeom prst="roundRect">
            <a:avLst>
              <a:gd name="adj" fmla="val 678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08392" y="168249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Лидер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08392" y="197510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time_decay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708392" y="235915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NDCG@5 = 0.2936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464040" y="1554480"/>
            <a:ext cx="1737360" cy="1078992"/>
          </a:xfrm>
          <a:prstGeom prst="roundRect">
            <a:avLst>
              <a:gd name="adj" fmla="val 6780"/>
            </a:avLst>
          </a:prstGeom>
          <a:solidFill>
            <a:srgbClr val="F6E7CE"/>
          </a:solidFill>
          <a:ln w="12700">
            <a:solidFill>
              <a:srgbClr val="F6E7C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28632" y="168249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MAP@5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28632" y="197510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0.2387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628632" y="235915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лучший single-run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543800" y="2907792"/>
            <a:ext cx="1737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08392" y="303580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NCF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08392" y="332841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0.1975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708392" y="371246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NDCG@5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464040" y="2907792"/>
            <a:ext cx="1737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28632" y="303580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NCF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28632" y="332841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0.1518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628632" y="371246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MAP@5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543800" y="4261104"/>
            <a:ext cx="3657600" cy="168249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08392" y="4389120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Интерпретация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08392" y="4645152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NCF и LightGCN уже добавлены как серьезные ML/SOTA-базлайны, но на текущем synthetic setup лучшей остается time-aware модель. Это хороший аргумент в пользу важности временной структуры поведения.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3F34"/>
          </a:solidFill>
          <a:ln w="12700">
            <a:solidFill>
              <a:srgbClr val="103F3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Устойчивость и ограничения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37392" y="6446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5B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" y="1353312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81328"/>
            <a:ext cx="10643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Bootstrap по разнице time-decay vs profile baseline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106436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Средний выигрыш по NDCG@5 = 0.0030, 95% CI = [-0.0101; 0.0155]. Улучшение есть по направлению, но без жесткого статистического отрыва.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2761488"/>
            <a:ext cx="523036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9504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это значит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145536"/>
            <a:ext cx="4901184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 не завязана на один удачный прогон.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Есть multi-seed benchmark и bootstrap-анализ, поэтому результаты можно обсуждать как исследовательские, а не как разовую таблицу метрик.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761488"/>
            <a:ext cx="550468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889504"/>
            <a:ext cx="5175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Ключевые ограничения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82512" y="3145536"/>
            <a:ext cx="5175504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Synthetic-данные не заменяют реальные банковские логи.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Витрина офферов небольшая, поэтому разрывы между сильными моделями ограничены.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Более тяжелые sequence-aware модели вроде BERT4Rec вынесены в следующий этап, а реализованные LightGCN и SASRec пока не стали лидерами.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3F34"/>
          </a:solidFill>
          <a:ln w="12700">
            <a:solidFill>
              <a:srgbClr val="103F3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Минимальная real-data validation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37392" y="6446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5B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481328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093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" y="19019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Online Retail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33272" y="228600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UCI + Kaggle mirror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481328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6093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9272" y="19019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2 992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319272" y="228600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фильтрации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481328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5272" y="16093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05272" y="19019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1 499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605272" y="228600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фильтрации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26680" y="1481328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6E7CE"/>
          </a:solidFill>
          <a:ln w="12700">
            <a:solidFill>
              <a:srgbClr val="F6E7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91272" y="16093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91272" y="19019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201 226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891272" y="228600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положительные user-item пары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2999232"/>
            <a:ext cx="480060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127248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построен transfer check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3383280"/>
            <a:ext cx="447141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Берется реальный transaction log, данные очищаются и агрегируются до user-item implicit interactions, затем по каждому пользователю удерживается последний товар как holdout. После этого тот же evaluation loop запускается без смены логики метрик.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35040" y="2999232"/>
            <a:ext cx="521208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312724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именно это доказывает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3383280"/>
            <a:ext cx="48828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не доказательство банковской production-конверсии, а proof of transferability: тот же pipeline и те же ranking-метрики работают на реальном transaction log, а не только на synthetic setup.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3F34"/>
          </a:solidFill>
          <a:ln w="12700">
            <a:solidFill>
              <a:srgbClr val="103F3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Результаты на реальном transaction log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37392" y="6446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5B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1100" dirty="0"/>
          </a:p>
        </p:txBody>
      </p:sp>
      <p:pic>
        <p:nvPicPr>
          <p:cNvPr id="6" name="Image 0" descr="C:\Users\vadim\Desktop\elena\reports\real_validation\figures\real_validation_ndcg_by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17320"/>
            <a:ext cx="64922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08392" y="2505456"/>
            <a:ext cx="1783080" cy="1078992"/>
          </a:xfrm>
          <a:prstGeom prst="roundRect">
            <a:avLst>
              <a:gd name="adj" fmla="val 678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72984" y="263347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Лидер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72984" y="292608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implicit MF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872984" y="331012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NDCG@10 = 0.1296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656064" y="2505456"/>
            <a:ext cx="1783080" cy="1078992"/>
          </a:xfrm>
          <a:prstGeom prst="roundRect">
            <a:avLst>
              <a:gd name="adj" fmla="val 6780"/>
            </a:avLst>
          </a:prstGeom>
          <a:solidFill>
            <a:srgbClr val="F6E7CE"/>
          </a:solidFill>
          <a:ln w="12700">
            <a:solidFill>
              <a:srgbClr val="F6E7C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20656" y="263347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MAP@10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820656" y="292608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0.1025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820656" y="331012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лучший результат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708392" y="3858768"/>
            <a:ext cx="1783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72984" y="398678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LightGCN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872984" y="427939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0.0114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872984" y="466344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NDCG@10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656064" y="3858768"/>
            <a:ext cx="1783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20656" y="398678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SASRec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820656" y="427939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0.0092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820656" y="466344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B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NDCG@10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3F34"/>
          </a:solidFill>
          <a:ln w="12700">
            <a:solidFill>
              <a:srgbClr val="103F3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Сервисный прототип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37392" y="6446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5B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389888"/>
            <a:ext cx="4251960" cy="452628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773936"/>
            <a:ext cx="3922776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FastAPI endpoint `/recommend/{user_id}`.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Streamlit-интерфейс для просмотра пользователя и рекомендаций.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Автоматически формируемые отчеты и графики в `reports/`.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Воспроизводимый запуск через PowerShell scripts.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0680" y="1389888"/>
            <a:ext cx="5833872" cy="1082856"/>
          </a:xfrm>
          <a:prstGeom prst="roundRect">
            <a:avLst>
              <a:gd name="adj" fmla="val 3902"/>
            </a:avLst>
          </a:prstGeom>
          <a:solidFill>
            <a:srgbClr val="233238"/>
          </a:solidFill>
          <a:ln w="12700">
            <a:solidFill>
              <a:srgbClr val="233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0136" y="1344168"/>
            <a:ext cx="5394960" cy="1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/recommend/U00001?top_k=5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time_decay_profile_v1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 user_id, known_user, recommendations[]</a:t>
            </a:r>
            <a:endParaRPr lang="en-US" sz="15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747064"/>
            <a:ext cx="5833872" cy="29255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3F34"/>
          </a:solidFill>
          <a:ln w="12700">
            <a:solidFill>
              <a:srgbClr val="103F3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 err="1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</a:t>
            </a:r>
            <a:r>
              <a:rPr lang="en-US" sz="2300" dirty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</a:t>
            </a:r>
            <a:r>
              <a:rPr lang="en-US" sz="2300" dirty="0" err="1" smtClean="0">
                <a:solidFill>
                  <a:srgbClr val="1120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осталось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37392" y="6446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5B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45336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3F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План работ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4974336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Дотюнить SASRec и LightGCN на real-data holdout.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При необходимости добавить BERT4Rec как более тяжелую sequence-aware альтернативу.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Финализировать текст ВКР и иллюстрации.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Подготовить ответы на вопросы про ограничения synthetic setup и real-data validation</a:t>
            </a:r>
            <a:r>
              <a:rPr lang="en-US" sz="1600" dirty="0" smtClean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ru-RU" sz="1600" dirty="0" smtClean="0">
              <a:solidFill>
                <a:srgbClr val="11201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r>
              <a:rPr lang="ru-RU" sz="1600" dirty="0" smtClean="0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5</a:t>
            </a:r>
            <a:r>
              <a:rPr lang="ru-RU" sz="1600" dirty="0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. </a:t>
            </a:r>
            <a:r>
              <a:rPr lang="ru-RU" sz="1600" dirty="0" smtClean="0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Попробовать все же адаптировать </a:t>
            </a:r>
            <a:r>
              <a:rPr lang="ru-RU" sz="1600" dirty="0" err="1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pipeline</a:t>
            </a:r>
            <a:r>
              <a:rPr lang="ru-RU" sz="1600" dirty="0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 под реальные банковские данные — в первую очередь MBD от </a:t>
            </a:r>
            <a:r>
              <a:rPr lang="ru-RU" sz="1600" dirty="0" err="1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Sber</a:t>
            </a:r>
            <a:r>
              <a:rPr lang="ru-RU" sz="1600" dirty="0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 AI </a:t>
            </a:r>
            <a:r>
              <a:rPr lang="ru-RU" sz="1600" dirty="0" err="1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Lab</a:t>
            </a:r>
            <a:r>
              <a:rPr lang="ru-RU" sz="1600" dirty="0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 как наиболее релевантный открытый ресурс с продуктовыми метками</a:t>
            </a:r>
            <a:r>
              <a:rPr lang="ru-RU" sz="1600" dirty="0" smtClean="0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.</a:t>
            </a:r>
          </a:p>
          <a:p>
            <a:r>
              <a:rPr lang="ru-RU" sz="1600" dirty="0" smtClean="0">
                <a:solidFill>
                  <a:srgbClr val="112018"/>
                </a:solidFill>
                <a:latin typeface="Segoe UI" pitchFamily="34" charset="0"/>
                <a:cs typeface="Segoe UI" pitchFamily="34" charset="-120"/>
              </a:rPr>
              <a:t>6. Перевести все на качественный английский, поскольку диплом на английском и защиты на английском. 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2666570"/>
            <a:ext cx="5138928" cy="1920240"/>
          </a:xfrm>
          <a:prstGeom prst="roundRect">
            <a:avLst>
              <a:gd name="adj" fmla="val 3810"/>
            </a:avLst>
          </a:prstGeom>
          <a:solidFill>
            <a:srgbClr val="F6E7CE"/>
          </a:solidFill>
          <a:ln w="12700">
            <a:solidFill>
              <a:srgbClr val="F6E7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3050618"/>
            <a:ext cx="4809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20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 уже закрывает воспроизводимый pipeline, ML-baseline, graph-based LightGCN, sequence-aware SASRec, real transaction validation и сервисный прототип. До полной защиты остается не начинать заново, а дотюнить тяжелые ветки и оформить итоговую подачу.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890</Words>
  <Application>Microsoft Office PowerPoint</Application>
  <PresentationFormat>Широкоэкранный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Персонализация клиентских предложений на основе транзакционной активности</dc:title>
  <dc:subject>Предзащита ВКР</dc:subject>
  <dc:creator>OpenAI Codex</dc:creator>
  <cp:lastModifiedBy>Учетная запись Майкрософт</cp:lastModifiedBy>
  <cp:revision>10</cp:revision>
  <dcterms:created xsi:type="dcterms:W3CDTF">2026-04-08T14:34:47Z</dcterms:created>
  <dcterms:modified xsi:type="dcterms:W3CDTF">2026-04-17T14:41:21Z</dcterms:modified>
</cp:coreProperties>
</file>