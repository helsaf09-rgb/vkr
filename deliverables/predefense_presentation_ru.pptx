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54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0066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4"/>
          </a:solidFill>
          <a:ln w="12700">
            <a:solidFill>
              <a:srgbClr val="F5F7F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58368"/>
            <a:ext cx="10881360" cy="5541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58368"/>
            <a:ext cx="201168" cy="5541264"/>
          </a:xfrm>
          <a:prstGeom prst="rect">
            <a:avLst/>
          </a:prstGeom>
          <a:solidFill>
            <a:srgbClr val="1E6F5C"/>
          </a:solidFill>
          <a:ln w="12700">
            <a:solidFill>
              <a:srgbClr val="1E6F5C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5568" y="95097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Предзащита ВКР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15568" y="1261872"/>
            <a:ext cx="6720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Персонализация клиентских предложений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на основе транзакционной активности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33856" y="2542032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Сафонова Елена Михайловна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научный руководитель: Ильвовский Дмитрий Алексеевич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магистратура Data Science, НИУ ВШЭ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апрель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092440" y="1371600"/>
            <a:ext cx="2880360" cy="1078992"/>
          </a:xfrm>
          <a:prstGeom prst="roundRect">
            <a:avLst>
              <a:gd name="adj" fmla="val 6780"/>
            </a:avLst>
          </a:prstGeom>
          <a:solidFill>
            <a:srgbClr val="DDEFE9"/>
          </a:solidFill>
          <a:ln w="12700">
            <a:solidFill>
              <a:srgbClr val="DDEF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57032" y="1499616"/>
            <a:ext cx="25511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Сделано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57032" y="1792224"/>
            <a:ext cx="2551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pipeline + API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8257032" y="2176272"/>
            <a:ext cx="25511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репозиторий, EDA, метрики, сервис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092440" y="2697480"/>
            <a:ext cx="2880360" cy="1078992"/>
          </a:xfrm>
          <a:prstGeom prst="roundRect">
            <a:avLst>
              <a:gd name="adj" fmla="val 6780"/>
            </a:avLst>
          </a:prstGeom>
          <a:solidFill>
            <a:srgbClr val="F6E7CE"/>
          </a:solidFill>
          <a:ln w="12700">
            <a:solidFill>
              <a:srgbClr val="F6E7C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57032" y="2825496"/>
            <a:ext cx="25511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 baseline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57032" y="3118104"/>
            <a:ext cx="2551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NCF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257032" y="3502152"/>
            <a:ext cx="25511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нелинейная модель уже включена в стек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092440" y="4023360"/>
            <a:ext cx="2880360" cy="1078992"/>
          </a:xfrm>
          <a:prstGeom prst="roundRect">
            <a:avLst>
              <a:gd name="adj" fmla="val 6780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57032" y="4151376"/>
            <a:ext cx="25511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validation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57032" y="4443984"/>
            <a:ext cx="2551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Online Retail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8257032" y="4828032"/>
            <a:ext cx="25511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валидация на реальных transaction logs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899648" y="56692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103F3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03F34"/>
          </a:solidFill>
          <a:ln w="12700">
            <a:solidFill>
              <a:srgbClr val="103F34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658368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Актуальность, цель и постановка задачи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137392" y="64465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85B5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58368" y="1207008"/>
            <a:ext cx="5486400" cy="4919472"/>
          </a:xfrm>
          <a:prstGeom prst="roundRect">
            <a:avLst>
              <a:gd name="adj" fmla="val 1487"/>
            </a:avLst>
          </a:prstGeom>
          <a:solidFill>
            <a:srgbClr val="FFFFFF"/>
          </a:solidFill>
          <a:ln w="12700">
            <a:solidFill>
              <a:srgbClr val="D9E2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335024"/>
            <a:ext cx="5157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3F3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Что нужно решить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1753074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Банку нужна короткая релевантная top-K выдача, а не массовая рассылка одинаковых офферов.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2502882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На входе есть история транзакций пользователя, на выходе нужна ранжированная выдача банковских предложений.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3252690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Источник сигнала: транзакционная активность, а не статические анкеты.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400249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Оценка качества: Precision@K, Recall@K, MAP@K, NDCG@K.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0" y="1207008"/>
            <a:ext cx="5120640" cy="1298448"/>
          </a:xfrm>
          <a:prstGeom prst="roundRect">
            <a:avLst>
              <a:gd name="adj" fmla="val 5634"/>
            </a:avLst>
          </a:prstGeom>
          <a:solidFill>
            <a:srgbClr val="F6E7CE"/>
          </a:solidFill>
          <a:ln w="12700">
            <a:solidFill>
              <a:srgbClr val="F6E7C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65392" y="1335024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3F3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Цель исследования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65392" y="1591056"/>
            <a:ext cx="4791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Построить и оценить воспроизводимый pipeline персонализации банковских офферов по транзакционной активности пользователя.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0" y="2724912"/>
            <a:ext cx="5120640" cy="1298448"/>
          </a:xfrm>
          <a:prstGeom prst="roundRect">
            <a:avLst>
              <a:gd name="adj" fmla="val 5634"/>
            </a:avLst>
          </a:prstGeom>
          <a:solidFill>
            <a:srgbClr val="DDEFE9"/>
          </a:solidFill>
          <a:ln w="12700">
            <a:solidFill>
              <a:srgbClr val="DDEF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65392" y="2852928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3F3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Исследовательский компромисс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565392" y="3108960"/>
            <a:ext cx="4791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Открытого банковского transaction </a:t>
            </a:r>
            <a:r>
              <a:rPr lang="en-US" sz="1400" dirty="0" smtClean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</a:t>
            </a:r>
            <a:r>
              <a:rPr lang="ru-RU" sz="1400" dirty="0" smtClean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конкретно под наши цели</a:t>
            </a:r>
            <a:r>
              <a:rPr lang="en-US" sz="1400" dirty="0" smtClean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нет, поэтому основной benchmark строится на synthetic dataset, а real-data validation выступает как внешний transferability check.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4242816"/>
            <a:ext cx="5120640" cy="1298448"/>
          </a:xfrm>
          <a:prstGeom prst="roundRect">
            <a:avLst>
              <a:gd name="adj" fmla="val 5634"/>
            </a:avLst>
          </a:prstGeom>
          <a:solidFill>
            <a:srgbClr val="F6DCD6"/>
          </a:solidFill>
          <a:ln w="12700">
            <a:solidFill>
              <a:srgbClr val="F6DC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65392" y="4370832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3F3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Практический результат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65392" y="4626864"/>
            <a:ext cx="4791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Проект доведен до API-прототипа, презентации, отчётов и формализованных артефактов, которые можно воспроизвести одной командой.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03F34"/>
          </a:solidFill>
          <a:ln w="12700">
            <a:solidFill>
              <a:srgbClr val="103F34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658368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Данные и pipeline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137392" y="64465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85B5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13232" y="2057400"/>
            <a:ext cx="1664208" cy="1371600"/>
          </a:xfrm>
          <a:prstGeom prst="roundRect">
            <a:avLst>
              <a:gd name="adj" fmla="val 5333"/>
            </a:avLst>
          </a:prstGeom>
          <a:solidFill>
            <a:srgbClr val="DDEFE9"/>
          </a:solidFill>
          <a:ln w="12700">
            <a:solidFill>
              <a:srgbClr val="DDEFE9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331720"/>
            <a:ext cx="13716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Synthetic banking-like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450592" y="2596896"/>
            <a:ext cx="164592" cy="256032"/>
          </a:xfrm>
          <a:prstGeom prst="chevron">
            <a:avLst/>
          </a:prstGeom>
          <a:solidFill>
            <a:srgbClr val="1E6F5C"/>
          </a:solidFill>
          <a:ln w="12700">
            <a:solidFill>
              <a:srgbClr val="1E6F5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88920" y="2057400"/>
            <a:ext cx="1664208" cy="1371600"/>
          </a:xfrm>
          <a:prstGeom prst="roundRect">
            <a:avLst>
              <a:gd name="adj" fmla="val 5333"/>
            </a:avLst>
          </a:prstGeom>
          <a:solidFill>
            <a:srgbClr val="EAF2EF"/>
          </a:solidFill>
          <a:ln w="12700">
            <a:solidFill>
              <a:srgbClr val="EAF2E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35224" y="2331720"/>
            <a:ext cx="13716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EDA + отчеты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по данным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26280" y="2596896"/>
            <a:ext cx="164592" cy="256032"/>
          </a:xfrm>
          <a:prstGeom prst="chevron">
            <a:avLst/>
          </a:prstGeom>
          <a:solidFill>
            <a:srgbClr val="1E6F5C"/>
          </a:solidFill>
          <a:ln w="12700">
            <a:solidFill>
              <a:srgbClr val="1E6F5C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64608" y="2057400"/>
            <a:ext cx="1664208" cy="1371600"/>
          </a:xfrm>
          <a:prstGeom prst="roundRect">
            <a:avLst>
              <a:gd name="adj" fmla="val 5333"/>
            </a:avLst>
          </a:prstGeom>
          <a:solidFill>
            <a:srgbClr val="F6E7CE"/>
          </a:solidFill>
          <a:ln w="12700">
            <a:solidFill>
              <a:srgbClr val="F6E7CE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10912" y="2331720"/>
            <a:ext cx="13716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Обучение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моделей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601968" y="2596896"/>
            <a:ext cx="164592" cy="256032"/>
          </a:xfrm>
          <a:prstGeom prst="chevron">
            <a:avLst/>
          </a:prstGeom>
          <a:solidFill>
            <a:srgbClr val="1E6F5C"/>
          </a:solidFill>
          <a:ln w="12700">
            <a:solidFill>
              <a:srgbClr val="1E6F5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0296" y="2057400"/>
            <a:ext cx="1664208" cy="1371600"/>
          </a:xfrm>
          <a:prstGeom prst="roundRect">
            <a:avLst>
              <a:gd name="adj" fmla="val 5333"/>
            </a:avLst>
          </a:prstGeom>
          <a:solidFill>
            <a:srgbClr val="EAF2EF"/>
          </a:solidFill>
          <a:ln w="12700">
            <a:solidFill>
              <a:srgbClr val="EAF2E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86600" y="2331720"/>
            <a:ext cx="13716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Offline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оценка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677656" y="2596896"/>
            <a:ext cx="164592" cy="256032"/>
          </a:xfrm>
          <a:prstGeom prst="chevron">
            <a:avLst/>
          </a:prstGeom>
          <a:solidFill>
            <a:srgbClr val="1E6F5C"/>
          </a:solidFill>
          <a:ln w="12700">
            <a:solidFill>
              <a:srgbClr val="1E6F5C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15984" y="2057400"/>
            <a:ext cx="1664208" cy="1371600"/>
          </a:xfrm>
          <a:prstGeom prst="roundRect">
            <a:avLst>
              <a:gd name="adj" fmla="val 5333"/>
            </a:avLst>
          </a:prstGeom>
          <a:solidFill>
            <a:srgbClr val="DDEFE9"/>
          </a:solidFill>
          <a:ln w="12700">
            <a:solidFill>
              <a:srgbClr val="DDEFE9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62288" y="2331720"/>
            <a:ext cx="13716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API + Streamlit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prototype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87552" y="4297680"/>
            <a:ext cx="210312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52144" y="4425696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Synthetic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52144" y="4718304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800 users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152144" y="510235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112 626 transactions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383280" y="4297680"/>
            <a:ext cx="210312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47872" y="4425696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Interactions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47872" y="4718304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6 442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3547872" y="510235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positive offer responses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779008" y="4297680"/>
            <a:ext cx="210312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4425696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43600" y="4718304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reports/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5943600" y="510235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CSV + JSON + PNG + markdown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174736" y="4297680"/>
            <a:ext cx="2359152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39328" y="4425696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Artifacts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39328" y="4639733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README + docs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8339328" y="510235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готовые материалы под обсуждение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03F34"/>
          </a:solidFill>
          <a:ln w="12700">
            <a:solidFill>
              <a:srgbClr val="103F34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7208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dirty="0" smtClean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ML-</a:t>
            </a:r>
            <a:r>
              <a:rPr lang="en-US" sz="2300" dirty="0" err="1" smtClean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модели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137392" y="64465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85B5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58368" y="1325880"/>
            <a:ext cx="525780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12700">
            <a:solidFill>
              <a:srgbClr val="D9E2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453896"/>
            <a:ext cx="4928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3F3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Уже в текущем benchmark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1828800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Neural CF (NCF): нелинейный ML-baseline с user/item embeddings.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2450592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LightGCN: графовая user-item модель из актуальной литературы.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3072384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SASRec: sequence-aware self-attention модель для next-item prediction.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3694176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Implicit MF: классическая матричная факторизация по implicit interactions.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4315968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Hybrid Semantic: profile similarity + TF-IDF по описаниям офферов.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4937760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 Profile baseline: интерпретируемый категорийный поведенческий профиль.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5559552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7. Time-decay: time-aware модель с учетом свежести интересов.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36208" y="1325880"/>
            <a:ext cx="5285232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12700">
            <a:solidFill>
              <a:srgbClr val="D9E2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453896"/>
            <a:ext cx="4956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3F3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SOTA-ориентиры из обзора литературы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92240" y="182880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BERT4Rec: bidirectional encoder для masked sequence modeling.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92240" y="261518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Следующий шаг после предзащиты: дотюнить SASRec/LightGCN и финальное сравнение.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73952" y="3913633"/>
            <a:ext cx="4572000" cy="1828799"/>
          </a:xfrm>
          <a:prstGeom prst="roundRect">
            <a:avLst>
              <a:gd name="adj" fmla="val 7407"/>
            </a:avLst>
          </a:prstGeom>
          <a:solidFill>
            <a:srgbClr val="F6E7CE"/>
          </a:solidFill>
          <a:ln w="12700">
            <a:solidFill>
              <a:srgbClr val="F6E7C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38544" y="4882896"/>
            <a:ext cx="4242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638544" y="4206241"/>
            <a:ext cx="42428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NCF уже реализован как серьезный нелинейный baseline, LightGCN — как графовая SOTA-ветка, а SASRec — как sequence-aware ветка на реальном transaction log. Следующий шаг уже не запускать что-то с нуля, а дотюнить тяжелые модели и при необходимости добавить BERT4Rec.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03F34"/>
          </a:solidFill>
          <a:ln w="12700">
            <a:solidFill>
              <a:srgbClr val="103F34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658368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Результаты на synthetic dataset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137392" y="64465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85B5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100" dirty="0"/>
          </a:p>
        </p:txBody>
      </p:sp>
      <p:pic>
        <p:nvPicPr>
          <p:cNvPr id="6" name="Image 0" descr="C:\Users\vadim\Desktop\elena\reports\figures\analysis_overall_ndcg_by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417320"/>
            <a:ext cx="6492240" cy="4526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543800" y="1554480"/>
            <a:ext cx="1737360" cy="1078992"/>
          </a:xfrm>
          <a:prstGeom prst="roundRect">
            <a:avLst>
              <a:gd name="adj" fmla="val 6780"/>
            </a:avLst>
          </a:prstGeom>
          <a:solidFill>
            <a:srgbClr val="DDEFE9"/>
          </a:solidFill>
          <a:ln w="12700">
            <a:solidFill>
              <a:srgbClr val="DDEF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08392" y="1682496"/>
            <a:ext cx="14081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Лидер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708392" y="1975104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time_decay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7708392" y="2359152"/>
            <a:ext cx="14081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NDCG@5 = 0.2936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9464040" y="1554480"/>
            <a:ext cx="1737360" cy="1078992"/>
          </a:xfrm>
          <a:prstGeom prst="roundRect">
            <a:avLst>
              <a:gd name="adj" fmla="val 6780"/>
            </a:avLst>
          </a:prstGeom>
          <a:solidFill>
            <a:srgbClr val="F6E7CE"/>
          </a:solidFill>
          <a:ln w="12700">
            <a:solidFill>
              <a:srgbClr val="F6E7C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28632" y="1682496"/>
            <a:ext cx="14081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MAP@5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9628632" y="1975104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0.2387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9628632" y="2359152"/>
            <a:ext cx="14081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лучший single-run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7543800" y="2907792"/>
            <a:ext cx="173736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708392" y="3035808"/>
            <a:ext cx="14081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NCF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708392" y="3328416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0.1975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7708392" y="3712464"/>
            <a:ext cx="14081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NDCG@5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9464040" y="2907792"/>
            <a:ext cx="173736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628632" y="3035808"/>
            <a:ext cx="14081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NCF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628632" y="3328416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0.1518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9628632" y="3712464"/>
            <a:ext cx="14081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MAP@5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543800" y="4261104"/>
            <a:ext cx="3657600" cy="168249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9E2D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708392" y="4389120"/>
            <a:ext cx="3328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3F3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Интерпретация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708392" y="4645152"/>
            <a:ext cx="33284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NCF и LightGCN уже добавлены как серьезные ML/SOTA-базлайны, но на текущем synthetic setup лучшей остается time-aware модель. Это хороший аргумент в пользу важности временной структуры поведения.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03F34"/>
          </a:solidFill>
          <a:ln w="12700">
            <a:solidFill>
              <a:srgbClr val="103F34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658368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Устойчивость и ограничения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137392" y="64465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85B5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9808" y="1353312"/>
            <a:ext cx="10972800" cy="1051560"/>
          </a:xfrm>
          <a:prstGeom prst="roundRect">
            <a:avLst>
              <a:gd name="adj" fmla="val 6957"/>
            </a:avLst>
          </a:prstGeom>
          <a:solidFill>
            <a:srgbClr val="DDEFE9"/>
          </a:solidFill>
          <a:ln w="12700">
            <a:solidFill>
              <a:srgbClr val="DDEF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481328"/>
            <a:ext cx="10643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3F3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Bootstrap по разнице time-decay vs profile baseline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1737360"/>
            <a:ext cx="1064361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Средний выигрыш по NDCG@5 = 0.0030, 95% CI = [-0.0101; 0.0155]. Улучшение есть по направлению, но без жесткого статистического отрыва.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49808" y="2761488"/>
            <a:ext cx="5230368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D9E2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889504"/>
            <a:ext cx="4901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3F3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Что это значит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145536"/>
            <a:ext cx="4901184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Работа не завязана на один удачный прогон.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Есть multi-seed benchmark и bootstrap-анализ, поэтому результаты можно обсуждать как исследовательские, а не как разовую таблицу метрик.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2761488"/>
            <a:ext cx="5504688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D9E2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82512" y="2889504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3F3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Ключевые ограничения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82512" y="3145536"/>
            <a:ext cx="5175504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Synthetic-данные не заменяют реальные банковские логи.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Витрина офферов небольшая, поэтому разрывы между сильными моделями ограничены.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Более тяжелые sequence-aware модели вроде BERT4Rec вынесены в следующий этап, а реализованные LightGCN и SASRec пока не стали лидерами.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03F34"/>
          </a:solidFill>
          <a:ln w="12700">
            <a:solidFill>
              <a:srgbClr val="103F34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658368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Минимальная real-data validation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137392" y="64465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85B5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68680" y="1481328"/>
            <a:ext cx="2011680" cy="1078992"/>
          </a:xfrm>
          <a:prstGeom prst="roundRect">
            <a:avLst>
              <a:gd name="adj" fmla="val 6780"/>
            </a:avLst>
          </a:prstGeom>
          <a:solidFill>
            <a:srgbClr val="DDEFE9"/>
          </a:solidFill>
          <a:ln w="12700">
            <a:solidFill>
              <a:srgbClr val="DDEF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1609344"/>
            <a:ext cx="16824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Dataset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33272" y="1901952"/>
            <a:ext cx="1682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Online Retail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033272" y="2286000"/>
            <a:ext cx="16824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UCI + Kaggle mirror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154680" y="1481328"/>
            <a:ext cx="201168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9272" y="1609344"/>
            <a:ext cx="16824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19272" y="1901952"/>
            <a:ext cx="1682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2 992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319272" y="2286000"/>
            <a:ext cx="16824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после фильтрации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40680" y="1481328"/>
            <a:ext cx="201168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1609344"/>
            <a:ext cx="16824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Items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605272" y="1901952"/>
            <a:ext cx="1682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1 499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5605272" y="2286000"/>
            <a:ext cx="16824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после фильтрации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726680" y="1481328"/>
            <a:ext cx="2011680" cy="1078992"/>
          </a:xfrm>
          <a:prstGeom prst="roundRect">
            <a:avLst>
              <a:gd name="adj" fmla="val 6780"/>
            </a:avLst>
          </a:prstGeom>
          <a:solidFill>
            <a:srgbClr val="F6E7CE"/>
          </a:solidFill>
          <a:ln w="12700">
            <a:solidFill>
              <a:srgbClr val="F6E7C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91272" y="1609344"/>
            <a:ext cx="16824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Interactions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891272" y="1901952"/>
            <a:ext cx="1682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201 226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7891272" y="2286000"/>
            <a:ext cx="16824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положительные user-item пары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14400" y="2999232"/>
            <a:ext cx="4800600" cy="2542032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D9E2D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78992" y="3127248"/>
            <a:ext cx="4471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3F3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Как построен transfer check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78992" y="3383280"/>
            <a:ext cx="4471416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Берется реальный transaction log, данные очищаются и агрегируются до user-item implicit interactions, затем по каждому пользователю удерживается последний товар как holdout. После этого тот же evaluation loop запускается без смены логики метрик.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035040" y="2999232"/>
            <a:ext cx="5212080" cy="2542032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D9E2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99632" y="3127248"/>
            <a:ext cx="4882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3F3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Что именно это доказывает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199632" y="3383280"/>
            <a:ext cx="4882896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Это не доказательство банковской production-конверсии, а proof of transferability: тот же pipeline и те же ranking-метрики работают на реальном transaction log, а не только на synthetic setup.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03F34"/>
          </a:solidFill>
          <a:ln w="12700">
            <a:solidFill>
              <a:srgbClr val="103F34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658368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Результаты на реальном transaction log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137392" y="64465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85B5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08</a:t>
            </a:r>
            <a:endParaRPr lang="en-US" sz="1100" dirty="0"/>
          </a:p>
        </p:txBody>
      </p:sp>
      <p:pic>
        <p:nvPicPr>
          <p:cNvPr id="6" name="Image 0" descr="C:\Users\vadim\Desktop\elena\reports\real_validation\figures\real_validation_ndcg_by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417320"/>
            <a:ext cx="6492240" cy="4526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708392" y="2505456"/>
            <a:ext cx="1783080" cy="1078992"/>
          </a:xfrm>
          <a:prstGeom prst="roundRect">
            <a:avLst>
              <a:gd name="adj" fmla="val 6780"/>
            </a:avLst>
          </a:prstGeom>
          <a:solidFill>
            <a:srgbClr val="DDEFE9"/>
          </a:solidFill>
          <a:ln w="12700">
            <a:solidFill>
              <a:srgbClr val="DDEF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72984" y="2633472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Лидер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872984" y="2926080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implicit MF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7872984" y="3310128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NDCG@10 = 0.1296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9656064" y="2505456"/>
            <a:ext cx="1783080" cy="1078992"/>
          </a:xfrm>
          <a:prstGeom prst="roundRect">
            <a:avLst>
              <a:gd name="adj" fmla="val 6780"/>
            </a:avLst>
          </a:prstGeom>
          <a:solidFill>
            <a:srgbClr val="F6E7CE"/>
          </a:solidFill>
          <a:ln w="12700">
            <a:solidFill>
              <a:srgbClr val="F6E7C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820656" y="2633472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MAP@10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9820656" y="2926080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0.1025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9820656" y="3310128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лучший результат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7708392" y="3858768"/>
            <a:ext cx="178308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72984" y="3986784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LightGCN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872984" y="4279392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0.0114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7872984" y="466344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NDCG@10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9656064" y="3858768"/>
            <a:ext cx="178308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820656" y="3986784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SASRec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820656" y="4279392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0.0092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9820656" y="466344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5B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NDCG@10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03F34"/>
          </a:solidFill>
          <a:ln w="12700">
            <a:solidFill>
              <a:srgbClr val="103F34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658368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Сервисный прототип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137392" y="64465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85B5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389888"/>
            <a:ext cx="4251960" cy="452628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D9E2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1517904"/>
            <a:ext cx="3922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3F3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Что уже можно показать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41832" y="1773936"/>
            <a:ext cx="3922776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FastAPI endpoint `/recommend/{user_id}`.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Streamlit-интерфейс для просмотра пользователя и рекомендаций.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Автоматически формируемые отчеты и графики в `reports/`.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Воспроизводимый запуск через PowerShell scripts.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40680" y="1389888"/>
            <a:ext cx="5833872" cy="1082856"/>
          </a:xfrm>
          <a:prstGeom prst="roundRect">
            <a:avLst>
              <a:gd name="adj" fmla="val 3902"/>
            </a:avLst>
          </a:prstGeom>
          <a:solidFill>
            <a:srgbClr val="233238"/>
          </a:solidFill>
          <a:ln w="12700">
            <a:solidFill>
              <a:srgbClr val="2332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0136" y="1344168"/>
            <a:ext cx="5394960" cy="1174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/recommend/U00001?top_k=5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time_decay_profile_v1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response: user_id, known_user, recommendations[]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03F34"/>
          </a:solidFill>
          <a:ln w="12700">
            <a:solidFill>
              <a:srgbClr val="103F34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658368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dirty="0" err="1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Что</a:t>
            </a:r>
            <a:r>
              <a:rPr lang="en-US" sz="2300" dirty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</a:t>
            </a:r>
            <a:r>
              <a:rPr lang="en-US" sz="2300" dirty="0" err="1" smtClean="0">
                <a:solidFill>
                  <a:srgbClr val="11201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осталось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137392" y="64465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85B5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9808" y="1417320"/>
            <a:ext cx="530352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D9E2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545336"/>
            <a:ext cx="4974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3F3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План работ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1801368"/>
            <a:ext cx="4974336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Дотюнить SASRec и LightGCN на real-data holdout.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При необходимости добавить BERT4Rec как более тяжелую sequence-aware альтернативу.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Финализировать текст ВКР и иллюстрации.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Подготовить ответы на вопросы про ограничения synthetic setup и real-data validation</a:t>
            </a:r>
            <a:r>
              <a:rPr lang="en-US" sz="1600" dirty="0" smtClean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ru-RU" sz="1600" dirty="0" smtClean="0">
              <a:solidFill>
                <a:srgbClr val="11201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r>
              <a:rPr lang="ru-RU" sz="1600" dirty="0" smtClean="0">
                <a:solidFill>
                  <a:srgbClr val="112018"/>
                </a:solidFill>
                <a:latin typeface="Segoe UI" pitchFamily="34" charset="0"/>
                <a:cs typeface="Segoe UI" pitchFamily="34" charset="-120"/>
              </a:rPr>
              <a:t>5</a:t>
            </a:r>
            <a:r>
              <a:rPr lang="ru-RU" sz="1600" dirty="0">
                <a:solidFill>
                  <a:srgbClr val="112018"/>
                </a:solidFill>
                <a:latin typeface="Segoe UI" pitchFamily="34" charset="0"/>
                <a:cs typeface="Segoe UI" pitchFamily="34" charset="-120"/>
              </a:rPr>
              <a:t>. </a:t>
            </a:r>
            <a:r>
              <a:rPr lang="ru-RU" sz="1600" dirty="0" smtClean="0">
                <a:solidFill>
                  <a:srgbClr val="112018"/>
                </a:solidFill>
                <a:latin typeface="Segoe UI" pitchFamily="34" charset="0"/>
                <a:cs typeface="Segoe UI" pitchFamily="34" charset="-120"/>
              </a:rPr>
              <a:t>Попробовать все же адаптировать </a:t>
            </a:r>
            <a:r>
              <a:rPr lang="ru-RU" sz="1600" dirty="0" err="1">
                <a:solidFill>
                  <a:srgbClr val="112018"/>
                </a:solidFill>
                <a:latin typeface="Segoe UI" pitchFamily="34" charset="0"/>
                <a:cs typeface="Segoe UI" pitchFamily="34" charset="-120"/>
              </a:rPr>
              <a:t>pipeline</a:t>
            </a:r>
            <a:r>
              <a:rPr lang="ru-RU" sz="1600" dirty="0">
                <a:solidFill>
                  <a:srgbClr val="112018"/>
                </a:solidFill>
                <a:latin typeface="Segoe UI" pitchFamily="34" charset="0"/>
                <a:cs typeface="Segoe UI" pitchFamily="34" charset="-120"/>
              </a:rPr>
              <a:t> под реальные банковские данные — в первую очередь MBD от </a:t>
            </a:r>
            <a:r>
              <a:rPr lang="ru-RU" sz="1600" dirty="0" err="1">
                <a:solidFill>
                  <a:srgbClr val="112018"/>
                </a:solidFill>
                <a:latin typeface="Segoe UI" pitchFamily="34" charset="0"/>
                <a:cs typeface="Segoe UI" pitchFamily="34" charset="-120"/>
              </a:rPr>
              <a:t>Sber</a:t>
            </a:r>
            <a:r>
              <a:rPr lang="ru-RU" sz="1600" dirty="0">
                <a:solidFill>
                  <a:srgbClr val="112018"/>
                </a:solidFill>
                <a:latin typeface="Segoe UI" pitchFamily="34" charset="0"/>
                <a:cs typeface="Segoe UI" pitchFamily="34" charset="-120"/>
              </a:rPr>
              <a:t> AI </a:t>
            </a:r>
            <a:r>
              <a:rPr lang="ru-RU" sz="1600" dirty="0" err="1">
                <a:solidFill>
                  <a:srgbClr val="112018"/>
                </a:solidFill>
                <a:latin typeface="Segoe UI" pitchFamily="34" charset="0"/>
                <a:cs typeface="Segoe UI" pitchFamily="34" charset="-120"/>
              </a:rPr>
              <a:t>Lab</a:t>
            </a:r>
            <a:r>
              <a:rPr lang="ru-RU" sz="1600" dirty="0">
                <a:solidFill>
                  <a:srgbClr val="112018"/>
                </a:solidFill>
                <a:latin typeface="Segoe UI" pitchFamily="34" charset="0"/>
                <a:cs typeface="Segoe UI" pitchFamily="34" charset="-120"/>
              </a:rPr>
              <a:t> как наиболее релевантный открытый ресурс с продуктовыми метками</a:t>
            </a:r>
            <a:r>
              <a:rPr lang="ru-RU" sz="1600" dirty="0" smtClean="0">
                <a:solidFill>
                  <a:srgbClr val="112018"/>
                </a:solidFill>
                <a:latin typeface="Segoe UI" pitchFamily="34" charset="0"/>
                <a:cs typeface="Segoe UI" pitchFamily="34" charset="-120"/>
              </a:rPr>
              <a:t>.</a:t>
            </a:r>
          </a:p>
          <a:p>
            <a:r>
              <a:rPr lang="ru-RU" sz="1600" dirty="0" smtClean="0">
                <a:solidFill>
                  <a:srgbClr val="112018"/>
                </a:solidFill>
                <a:latin typeface="Segoe UI" pitchFamily="34" charset="0"/>
                <a:cs typeface="Segoe UI" pitchFamily="34" charset="-120"/>
              </a:rPr>
              <a:t>6. Перевести все на качественный английский, поскольку диплом на английском и защиты на английском. 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17920" y="2666570"/>
            <a:ext cx="5138928" cy="1920240"/>
          </a:xfrm>
          <a:prstGeom prst="roundRect">
            <a:avLst>
              <a:gd name="adj" fmla="val 3810"/>
            </a:avLst>
          </a:prstGeom>
          <a:solidFill>
            <a:srgbClr val="F6E7CE"/>
          </a:solidFill>
          <a:ln w="12700">
            <a:solidFill>
              <a:srgbClr val="F6E7C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3050618"/>
            <a:ext cx="480974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120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Работа уже закрывает воспроизводимый pipeline, ML-baseline, graph-based LightGCN, sequence-aware SASRec, real transaction validation и сервисный прототип. До полной защиты остается не начинать заново, а дотюнить тяжелые ветки и оформить итоговую подачу.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894</Words>
  <Application>Microsoft Office PowerPoint</Application>
  <PresentationFormat>Широкоэкранный</PresentationFormat>
  <Paragraphs>164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Arial</vt:lpstr>
      <vt:lpstr>Calibri</vt:lpstr>
      <vt:lpstr>Consolas</vt:lpstr>
      <vt:lpstr>Segoe UI</vt:lpstr>
      <vt:lpstr>Segoe UI Semibold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OpenAI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Персонализация клиентских предложений на основе транзакционной активности</dc:title>
  <dc:subject>Предзащита ВКР</dc:subject>
  <dc:creator>OpenAI Codex</dc:creator>
  <cp:lastModifiedBy>Учетная запись Майкрософт</cp:lastModifiedBy>
  <cp:revision>9</cp:revision>
  <dcterms:created xsi:type="dcterms:W3CDTF">2026-04-08T14:34:47Z</dcterms:created>
  <dcterms:modified xsi:type="dcterms:W3CDTF">2026-04-17T14:03:01Z</dcterms:modified>
</cp:coreProperties>
</file>